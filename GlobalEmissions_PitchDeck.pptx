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40">
              <a:alpha val="70000"/>
            </a:srgbClr>
          </a:solidFill>
          <a:ln w="12700">
            <a:solidFill>
              <a:srgbClr val="11224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65760"/>
            <a:ext cx="2468880" cy="246888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640080"/>
            <a:ext cx="1920240" cy="1920240"/>
          </a:xfrm>
          <a:prstGeom prst="ellipse">
            <a:avLst/>
          </a:prstGeom>
          <a:solidFill>
            <a:srgbClr val="48CAE4">
              <a:alpha val="12000"/>
            </a:srgbClr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DATA-DRIVEN CLIMATE AWARENESS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Global Emissions
</a:t>
            </a:r>
            <a:pPr algn="l" indent="0" marL="0">
              <a:buNone/>
            </a:pPr>
            <a:r>
              <a:rPr lang="en-US" sz="4600" b="1" dirty="0">
                <a:solidFill>
                  <a:srgbClr val="00B4D8"/>
                </a:solidFill>
              </a:rPr>
              <a:t>&amp; Energy Mix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8F4F8"/>
                </a:solidFill>
              </a:rPr>
              <a:t>An interactive analytics dashboard exploring CO₂, GHG emissions,</a:t>
            </a:r>
            <a:endParaRPr lang="en-US" sz="1350" dirty="0"/>
          </a:p>
          <a:p>
            <a:pPr algn="l" indent="0" marL="0">
              <a:buNone/>
            </a:pPr>
            <a:r>
              <a:rPr lang="en-US" sz="1350" i="1" dirty="0">
                <a:solidFill>
                  <a:srgbClr val="E8F4F8"/>
                </a:solidFill>
              </a:rPr>
              <a:t>and energy transitions across 190+ countries (1990–2023).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EB0"/>
                </a:solidFill>
              </a:rPr>
              <a:t>Dashboard by Quynh Huong (Sylvie) Nguyen  •  Macquarie University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Plotly Dash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37490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48CAE4">
              <a:alpha val="2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CAE4"/>
                </a:solidFill>
              </a:rPr>
              <a:t>Python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37490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4ECDC4">
              <a:alpha val="2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</a:rPr>
              <a:t>Plotly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FB347">
              <a:alpha val="2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Responsive Design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01  /  DASHBOARD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Built with Plotly Dash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EB0"/>
                </a:solidFill>
              </a:rPr>
              <a:t>A fully interactive, responsive web application — accessible anywhere.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114800" cy="1371600"/>
          </a:xfrm>
          <a:prstGeom prst="rect">
            <a:avLst/>
          </a:prstGeom>
          <a:solidFill>
            <a:srgbClr val="1A2F4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54864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8013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🌐  Responsive Web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1671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Built on Plotly Dash with a fluid CSS grid layout. The app automatically adapts to desktop, tablet, and mobile screen sizes with no extra configuration.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1371600"/>
          </a:xfrm>
          <a:prstGeom prst="rect">
            <a:avLst/>
          </a:prstGeom>
          <a:solidFill>
            <a:srgbClr val="1A2F45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54864" cy="13716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013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📱  Mobile-Ready via QR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1671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Scan a QR code to open the dashboard instantly on your phone. No installation needed — just a browser. Perfect for presentations or on-the-go exploration.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291840"/>
            <a:ext cx="4114800" cy="1371600"/>
          </a:xfrm>
          <a:prstGeom prst="rect">
            <a:avLst/>
          </a:prstGeom>
          <a:solidFill>
            <a:srgbClr val="1A2F45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91840"/>
            <a:ext cx="54864" cy="13716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4015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⚡  Real-Time Interactivity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7673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Dash callbacks power live filters: change year range, continent, country, or power source and every chart updates simultaneously without page reload.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4114800" cy="1371600"/>
          </a:xfrm>
          <a:prstGeom prst="rect">
            <a:avLst/>
          </a:prstGeom>
          <a:solidFill>
            <a:srgbClr val="1A2F45"/>
          </a:solidFill>
          <a:ln w="1905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91840"/>
            <a:ext cx="54864" cy="13716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4015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🔍  Linked Cross-Filtering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7673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Select a region on the map and all six charts update in sync. The animated bar chart timeline plays automatically to walk audiences through emissions trends.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02  /  DASHBOARD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 Charts. 1 Story. Fully Interactive.</a:t>
            </a:r>
            <a:endParaRPr lang="en-US" sz="2800" dirty="0"/>
          </a:p>
        </p:txBody>
      </p:sp>
      <p:pic>
        <p:nvPicPr>
          <p:cNvPr id="4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850392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20040" y="4297680"/>
            <a:ext cx="8503920" cy="475488"/>
          </a:xfrm>
          <a:prstGeom prst="rect">
            <a:avLst/>
          </a:prstGeom>
          <a:solidFill>
            <a:srgbClr val="112240">
              <a:alpha val="85000"/>
            </a:srgbClr>
          </a:solidFill>
          <a:ln w="12700">
            <a:solidFill>
              <a:srgbClr val="112240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3159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World Map  •  GHG Trend Lines  •  Electricity Per Capita  •  Energy by Source  •  CO₂ by Sector  •  KPI Cards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</a:rPr>
              <a:t>03  /  WHY THIS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Burning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1691640"/>
          </a:xfrm>
          <a:prstGeom prst="rect">
            <a:avLst/>
          </a:prstGeom>
          <a:solidFill>
            <a:srgbClr val="1A2F45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</a:rPr>
              <a:t>41.6B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EB0"/>
                </a:solidFill>
              </a:rPr>
              <a:t>tonnes CO₂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Total emissions in 2024 — an all-time record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143000"/>
            <a:ext cx="2011680" cy="1691640"/>
          </a:xfrm>
          <a:prstGeom prst="rect">
            <a:avLst/>
          </a:prstGeom>
          <a:solidFill>
            <a:srgbClr val="1A2F45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143000"/>
            <a:ext cx="201168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</a:rPr>
              <a:t>37.4B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87168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EB0"/>
                </a:solidFill>
              </a:rPr>
              <a:t>fossil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2084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From burning coal, oil and gas alone (2024)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143000"/>
            <a:ext cx="2011680" cy="1691640"/>
          </a:xfrm>
          <a:prstGeom prst="rect">
            <a:avLst/>
          </a:prstGeom>
          <a:solidFill>
            <a:srgbClr val="1A2F4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14300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+60%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54296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EB0"/>
                </a:solidFill>
              </a:rPr>
              <a:t>since 1990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45736" y="2084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Global CO₂ has grown more than 60% in 35 years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21424" y="1143000"/>
            <a:ext cx="2011680" cy="1691640"/>
          </a:xfrm>
          <a:prstGeom prst="rect">
            <a:avLst/>
          </a:prstGeom>
          <a:solidFill>
            <a:srgbClr val="1A2F45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1143000"/>
            <a:ext cx="20116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</a:rPr>
              <a:t>6 yrs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21424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EB0"/>
                </a:solidFill>
              </a:rPr>
              <a:t>to 1.5 °C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12864" y="2084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Estimated time left before breaching Paris target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8503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17520"/>
            <a:ext cx="54864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Carbon is a global, not local, problem. While some regions make real progress — Europe's emissions are falling — global totals keep rising, driven by industrialisation in Asia. China and the United States together account for over 40% of all emissions. 2024 was the hottest year on record, temporarily breaching 1.5 °C above pre-industrial levels. The gap between where we are and where we need to be has never been more urgent.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8CAE4"/>
                </a:solidFill>
              </a:rPr>
              <a:t>04  /  KEY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Who's Responsible?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Emitter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4F8"/>
                </a:solidFill>
              </a:rPr>
              <a:t>China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508760" y="1655064"/>
            <a:ext cx="411480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655064"/>
            <a:ext cx="411480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219.7B 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4F8"/>
                </a:solidFill>
              </a:rPr>
              <a:t>USA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508760" y="2176272"/>
            <a:ext cx="411480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176272"/>
            <a:ext cx="3427628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182.8B 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6426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4F8"/>
                </a:solidFill>
              </a:rPr>
              <a:t>Russia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508760" y="2697480"/>
            <a:ext cx="411480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2697480"/>
            <a:ext cx="1041044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6426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55.5B 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1638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4F8"/>
                </a:solidFill>
              </a:rPr>
              <a:t>India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508760" y="3218688"/>
            <a:ext cx="411480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3218688"/>
            <a:ext cx="925830" cy="2743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1638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49.4B 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685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4F8"/>
                </a:solidFill>
              </a:rPr>
              <a:t>Japan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508760" y="3739896"/>
            <a:ext cx="411480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3739896"/>
            <a:ext cx="753008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6850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40.1B 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06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4F8"/>
                </a:solidFill>
              </a:rPr>
              <a:t>Australia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508760" y="4261104"/>
            <a:ext cx="411480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4261104"/>
            <a:ext cx="226314" cy="274320"/>
          </a:xfrm>
          <a:prstGeom prst="rect">
            <a:avLst/>
          </a:prstGeom>
          <a:solidFill>
            <a:srgbClr val="ADB5BD"/>
          </a:solidFill>
          <a:ln w="12700">
            <a:solidFill>
              <a:srgbClr val="ADB5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206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DB5BD"/>
                </a:solidFill>
              </a:rPr>
              <a:t>12.1B 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1508760"/>
            <a:ext cx="1965960" cy="3291840"/>
          </a:xfrm>
          <a:prstGeom prst="rect">
            <a:avLst/>
          </a:prstGeom>
          <a:solidFill>
            <a:srgbClr val="1A2F45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508760"/>
            <a:ext cx="196596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15727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🔑 Key Take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1938528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China &amp; USA together: &gt;40% of global emissions.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Despite similar development levels, European G7 nations emit far less per-capita thanks to decarbonisation policies.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Australia emits 15× less in total than the US — yet per-capita it still ranks high due to fossil-fuel-intensive industry.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EB0"/>
                </a:solidFill>
              </a:rPr>
              <a:t>Source: Dashboard data 1990–2023 (cumulative totals, billion tonnes CO₂)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8CAE4"/>
                </a:solidFill>
              </a:rPr>
              <a:t>04  /  KEY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Clean Energy Gap: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Electricity vs Total Energy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2560320" cy="2560320"/>
          </a:xfrm>
          <a:prstGeom prst="ellipse">
            <a:avLst/>
          </a:prstGeom>
          <a:solidFill>
            <a:srgbClr val="00B4D8">
              <a:alpha val="22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31.97%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Electricity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Nuclear + Renewables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share of electricity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(2015–2023)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2560320" cy="2560320"/>
          </a:xfrm>
          <a:prstGeom prst="ellipse">
            <a:avLst/>
          </a:prstGeom>
          <a:solidFill>
            <a:srgbClr val="FF6B6B">
              <a:alpha val="22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</a:rPr>
              <a:t>21.91%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Global Energy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880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Same sources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total energy mix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(incl. transport &amp; heat)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39312" y="2651760"/>
            <a:ext cx="1316736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743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47"/>
                </a:solidFill>
              </a:rPr>
              <a:t>~10%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347"/>
                </a:solidFill>
              </a:rPr>
              <a:t>gap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114800"/>
            <a:ext cx="850392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114800"/>
            <a:ext cx="54864" cy="8229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605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The gap exists because electricity is just one-third of total energy. Transport (petrol/diesel) and heating (gas/oil) remain stubbornly fossil-fuel-dependent. Decarbonising only the power grid is NOT enough — transport and heating must also transition.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8CAE4"/>
                </a:solidFill>
              </a:rPr>
              <a:t>04  /  KEY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Diverging Paths: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Who's Going Down, Who's Going Up?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4114800" cy="347472"/>
          </a:xfrm>
          <a:prstGeom prst="rect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📉  Emissions Declining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947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🇪🇺 Europe: Strong downward trend — coal phase-outs, efficiency policy, renewables expansion.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596896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🇺🇸 USA: Gradual decline post-2007 thanks to gas replacing coal and renewable growth.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73552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300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🇫🇷 France: Exceptionally low CO₂ due to dominant nuclear share (~70% of electricity).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950208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🇩🇪 Germany: Steady decline despite post-nuclear transition challenges.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4114800" cy="347472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📈  Emissions Rising / Stable High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947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🇨🇳 China: Industrialisation surge — now ~30% of global emissions, though renewables are growing fast.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596896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🇮🇳 India: Fastest growing major economy; fossil fuels still dominate energy mix.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73552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300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🇦🇺 Australia: ~80% fossil-fuel electricity; renewables expanding but starting from high base.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950208"/>
            <a:ext cx="4114800" cy="603504"/>
          </a:xfrm>
          <a:prstGeom prst="rect">
            <a:avLst/>
          </a:prstGeom>
          <a:solidFill>
            <a:srgbClr val="1A2F45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🇯🇵 Japan: Post-Fukushima nuclear gap filled by fossil fuels — slow recovery since.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8CAE4"/>
                </a:solidFill>
              </a:rPr>
              <a:t>04  /  KEY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Where Does the CO₂ Actually Come From?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7555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7595" y="1234440"/>
            <a:ext cx="1417320" cy="6400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64915" y="1234440"/>
            <a:ext cx="907085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234440"/>
            <a:ext cx="793699" cy="6400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65699" y="1234440"/>
            <a:ext cx="623621" cy="6400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30552"/>
            <a:ext cx="201168" cy="2011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Energy Production  —  34%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68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Electricity &amp; Heat  —  25%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53512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Transport  —  16%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130552"/>
            <a:ext cx="201168" cy="2011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Fuel Combustion  —  14%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542032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468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Industry / Buildings  —  11%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788920" cy="3657600"/>
          </a:xfrm>
          <a:prstGeom prst="rect">
            <a:avLst/>
          </a:prstGeom>
          <a:solidFill>
            <a:srgbClr val="1A2F45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143000"/>
            <a:ext cx="278892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2070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The Hard Truth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1627632"/>
            <a:ext cx="2606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~75% of global GHG emissions come from energy production and combustion.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Electricity &amp; Heat is just one piece. Transport and industrial heating — the "hidden" sectors — are still almost entirely fossil-fuel powered.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This means clean electricity alone cannot get us to net zero. We need electrification of transport and heat, plus green hydrogen for heavy industry.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</a:rPr>
              <a:t>05  /  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Challenges We 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645920"/>
          </a:xfrm>
          <a:prstGeom prst="rect">
            <a:avLst/>
          </a:prstGeom>
          <a:solidFill>
            <a:srgbClr val="1A2F45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54864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Electricity ≠ All Energy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764792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Progress on clean electricity is real but insufficient. Transport and heating still rely almost entirely on fossil fuels, making the 31.97% renewable electricity share misleading when total energy is only 21.91% clean.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1645920"/>
          </a:xfrm>
          <a:prstGeom prst="rect">
            <a:avLst/>
          </a:prstGeom>
          <a:solidFill>
            <a:srgbClr val="1A2F45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54864" cy="16459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347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Unequal Global Burden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764792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China and the US account for &gt;40% of emissions while lower-income nations bear the brunt of climate impacts. The trade-off between industrialisation and decarbonisation creates a profound justice gap.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114800" cy="1645920"/>
          </a:xfrm>
          <a:prstGeom prst="rect">
            <a:avLst/>
          </a:prstGeom>
          <a:solidFill>
            <a:srgbClr val="1A2F4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08960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2004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200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Years to 1.5 °C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639312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At current rates, there is a 50% chance we permanently breach 1.5 °C within 6 years. Fossil CO₂ hit a record 37.4B tonnes in 2024 — with no sign of a global peak yet.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114800" cy="1645920"/>
          </a:xfrm>
          <a:prstGeom prst="rect">
            <a:avLst/>
          </a:prstGeom>
          <a:solidFill>
            <a:srgbClr val="1A2F45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108960"/>
            <a:ext cx="54864" cy="1645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2004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8CAE4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200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Fossil Path Dependency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639312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Australia's grid is ~80% fossil-fuelled. Japan reversed nuclear gains after Fukushima. Policy reversals and economic pressures mean progress is fragile and uneven across regions.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ECDC4"/>
                </a:solidFill>
              </a:rPr>
              <a:t>06  / 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Data 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148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44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⚡  Electrify Beyond the Grid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Accelerate EV adoption and heat pumps to bring transport and heating into the clean energy system. This closes the 10% electricity-vs-energy gap that our dashboard highlights.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395728"/>
            <a:ext cx="41148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95728"/>
            <a:ext cx="54864" cy="10058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459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CDC4"/>
                </a:solidFill>
              </a:rPr>
              <a:t>🌱  Global Accountability Mechanisms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7614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The data proves carbon is borderless. Reinforce Paris Agreement commitments with binding national targets, especially for China, USA, and India — the three largest current emitters.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511296"/>
            <a:ext cx="41148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11296"/>
            <a:ext cx="54864" cy="10058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5753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</a:rPr>
              <a:t>🔋  Scale Renewables in Emerging Economies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387705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Solar costs have fallen 90% since 2010. Fund renewable infrastructure in India, Southeast Asia, and Africa where emissions are rising fastest — without repeating fossil industrialisation.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41148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28016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344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</a:rPr>
              <a:t>🏗️  Tackle Heavy Industry &amp; Heating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73752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Buildings, steel, cement, and chemicals are CO₂-intensive and hard to electrify. Green hydrogen, carbon capture, and deep efficiency standards are essential for these sectors.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41148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95728"/>
            <a:ext cx="54864" cy="10058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59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8CAE4"/>
                </a:solidFill>
              </a:rPr>
              <a:t>📊  Data Transparency &amp; Awareness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27614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Dashboards like this one are tools for empathy. Making emissions data accessible — filterable by country, sector, and year — helps citizens, policymakers, and businesses make informed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data tells us the story.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do with it matters.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Global emissions hit a record high in 2024. Yet the signs of a turning point are visible: renewables met nearly three-quarters of electricity demand growth, EV sales grew 26%, and Europe's power sector is near fossil-free. The transition is happening — it just needs to accelerate.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3703320"/>
            <a:ext cx="2743200" cy="1097280"/>
          </a:xfrm>
          <a:prstGeom prst="rect">
            <a:avLst/>
          </a:prstGeom>
          <a:solidFill>
            <a:srgbClr val="1A2F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37033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40.9%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4315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Low-carbon electricity share (2024)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703320"/>
            <a:ext cx="2743200" cy="1097280"/>
          </a:xfrm>
          <a:prstGeom prst="rect">
            <a:avLst/>
          </a:prstGeom>
          <a:solidFill>
            <a:srgbClr val="1A2F45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3703320"/>
            <a:ext cx="27432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</a:rPr>
              <a:t>−2.2%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4315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EU CO₂ change in 2024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2743200" cy="1097280"/>
          </a:xfrm>
          <a:prstGeom prst="rect">
            <a:avLst/>
          </a:prstGeom>
          <a:solidFill>
            <a:srgbClr val="1A2F45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703320"/>
            <a:ext cx="274320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</a:rPr>
              <a:t>Net Zero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4315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EB0"/>
                </a:solidFill>
              </a:rPr>
              <a:t>Global target by 2050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EB0"/>
                </a:solidFill>
              </a:rPr>
              <a:t>Sources: IEA Global Energy Review 2025 · Global Carbon Budget 2024 · Ember 2025 · Dashboard by Quynh Huong (Sylvie) Nguyen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Emissions &amp; Energy Mix</dc:title>
  <dc:subject>PptxGenJS Presentation</dc:subject>
  <dc:creator>Quynh Huong (Sylvie) Nguyen</dc:creator>
  <cp:lastModifiedBy>Quynh Huong (Sylvie) Nguyen</cp:lastModifiedBy>
  <cp:revision>1</cp:revision>
  <dcterms:created xsi:type="dcterms:W3CDTF">2026-03-14T02:26:09Z</dcterms:created>
  <dcterms:modified xsi:type="dcterms:W3CDTF">2026-03-14T02:26:09Z</dcterms:modified>
</cp:coreProperties>
</file>